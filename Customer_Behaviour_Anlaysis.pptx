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Host Grotesk Medium" panose="020B0604020202020204" charset="0"/>
      <p:regular r:id="rId17"/>
    </p:embeddedFont>
    <p:embeddedFont>
      <p:font typeface="Roboto" panose="02000000000000000000" pitchFamily="2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556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2500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99246" y="238948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Customer Behavior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77866"/>
            <a:ext cx="6296860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3,900 purchases — 18 features — goal: spending patterns, segments, product &amp; subscription insights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75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02525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 Snapshot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899370"/>
            <a:ext cx="1972915" cy="1933277"/>
          </a:xfrm>
          <a:prstGeom prst="roundRect">
            <a:avLst>
              <a:gd name="adj" fmla="val 4106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3094732"/>
            <a:ext cx="15822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Rows / Columns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3798689"/>
            <a:ext cx="1582202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3,900 rows · 18 columns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395283" y="2899370"/>
            <a:ext cx="1972915" cy="1933277"/>
          </a:xfrm>
          <a:prstGeom prst="roundRect">
            <a:avLst>
              <a:gd name="adj" fmla="val 4106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90640" y="3094732"/>
            <a:ext cx="15822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590640" y="3503414"/>
            <a:ext cx="1582202" cy="1133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Demographics, purchase details, behavior, shipping, discounts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9557205" y="2899370"/>
            <a:ext cx="1972915" cy="1933277"/>
          </a:xfrm>
          <a:prstGeom prst="roundRect">
            <a:avLst>
              <a:gd name="adj" fmla="val 4106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52562" y="3094732"/>
            <a:ext cx="15822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Missing Data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752562" y="3503414"/>
            <a:ext cx="1582202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 values in Review Rating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75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97147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Preparation (Python)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015655"/>
            <a:ext cx="2917851" cy="141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- Loaded with pandas</a:t>
            </a:r>
            <a:endParaRPr lang="en-US" sz="2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- df.info() &amp; describe()</a:t>
            </a:r>
            <a:endParaRPr lang="en-US" sz="2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- Imputed review ratings by category median</a:t>
            </a:r>
            <a:endParaRPr lang="en-US" sz="2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- Renamed to snake_case       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618720" y="2562126"/>
            <a:ext cx="2373332" cy="3934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- Engineered age_group &amp; purchase_frequency_days</a:t>
            </a:r>
            <a:endParaRPr lang="en-US" sz="2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- Dropped promo_code_used (redundant)</a:t>
            </a:r>
            <a:endParaRPr lang="en-US" sz="2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Loaded cleaned DataFrame to PostgreSQL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SQL Analysis — Revenue &amp; Segments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50541"/>
            <a:ext cx="5203794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</a:t>
            </a:r>
            <a:r>
              <a:rPr lang="en-US" sz="1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Revenue by gender: Male &gt; Female</a:t>
            </a:r>
            <a:endParaRPr lang="en-US" sz="1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Customer segments: Loyal 3,116 · Returning 701 · New 83</a:t>
            </a:r>
            <a:endParaRPr lang="en-US" sz="1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67206"/>
            <a:ext cx="9676057" cy="952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Top Products &amp; Ratings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188791"/>
            <a:ext cx="762378" cy="952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976165"/>
            <a:ext cx="3465426" cy="137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Gloves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60087" y="3597473"/>
            <a:ext cx="246681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rating 3.86 — top-rated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3188791"/>
            <a:ext cx="762378" cy="952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1746" y="3188791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Sandals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361746" y="3597473"/>
            <a:ext cx="246681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rating 3.84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3188791"/>
            <a:ext cx="762378" cy="952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3406" y="3188791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Boots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063406" y="3597473"/>
            <a:ext cx="246681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rating 3.82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61475" y="4354413"/>
            <a:ext cx="11478330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Top-5 also: Hat 3.80 · Skirt 3.78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3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Discounts &amp; Price Sensitivity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55529" y="1910060"/>
            <a:ext cx="3510165" cy="3911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3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</a:t>
            </a:r>
            <a:r>
              <a:rPr lang="en-US" sz="7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Identified 839 discount-using customers who spent above average</a:t>
            </a:r>
          </a:p>
          <a:p>
            <a:pPr marL="0" indent="0" algn="l">
              <a:lnSpc>
                <a:spcPct val="125000"/>
              </a:lnSpc>
              <a:buNone/>
            </a:pPr>
            <a:endParaRPr lang="en-US" sz="7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7400" dirty="0">
                <a:solidFill>
                  <a:srgbClr val="38465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Top discount-dependent items: Hat 50% · Sneakers 49.66% · Coat 49.07% · Sweater 48.17% · Pants 47.37%</a:t>
            </a:r>
            <a:r>
              <a:rPr lang="en-US" sz="8000" dirty="0">
                <a:solidFill>
                  <a:srgbClr val="38465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</a:t>
            </a:r>
            <a:endParaRPr lang="en-US" sz="8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1" y="1910060"/>
            <a:ext cx="6903269" cy="39118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Shipping &amp; Purchase Behavior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89044" y="2464066"/>
            <a:ext cx="5582653" cy="2444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- Express slightly higher avg spend</a:t>
            </a:r>
            <a:endParaRPr lang="en-US" sz="2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- Payment method top: PayPal</a:t>
            </a:r>
            <a:endParaRPr lang="en-US" sz="2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- Frequency top: Every 3 Months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Revenue &amp; Sales by Category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50540"/>
            <a:ext cx="5121287" cy="192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</a:t>
            </a:r>
            <a:r>
              <a:rPr lang="en-US" sz="9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Sales volume: 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9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Clothing ~1,800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9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Accessories ~1,200 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9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Footwear ~600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9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Outerwear ~300</a:t>
            </a:r>
          </a:p>
          <a:p>
            <a:pPr marL="0" indent="0" algn="l">
              <a:lnSpc>
                <a:spcPct val="125000"/>
              </a:lnSpc>
              <a:buNone/>
            </a:pPr>
            <a:endParaRPr lang="en-US" sz="9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Top items by category: Jewelry, Sunglasses, Belt; Blouse, Pants, Shirt; Sandals, Shoes, Sneakers; Jacket, Coat</a:t>
            </a:r>
            <a:endParaRPr lang="en-US" sz="9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Demographics &amp; Revenue by Age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50541"/>
            <a:ext cx="5203794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</a:t>
            </a:r>
            <a:r>
              <a:rPr lang="en-US" sz="9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Highest revenue: Young Adults · focus marketing here</a:t>
            </a:r>
            <a:endParaRPr lang="en-US" sz="9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Subscribers: 1,053 (avg spend 59.49, revenue 62,645) ·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9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Non-subscribers: 2,847 (avg 59.87, revenue 170,436)</a:t>
            </a:r>
            <a:endParaRPr lang="en-US" sz="9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163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Recommendations &amp;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61475" y="1281212"/>
            <a:ext cx="3574564" cy="855861"/>
          </a:xfrm>
          <a:prstGeom prst="roundRect">
            <a:avLst>
              <a:gd name="adj" fmla="val 7102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5182" y="1444923"/>
            <a:ext cx="324715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Boost Subscriptions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5182" y="1781671"/>
            <a:ext cx="3247150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exclusive benefits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1475" y="2247801"/>
            <a:ext cx="3574564" cy="855861"/>
          </a:xfrm>
          <a:prstGeom prst="roundRect">
            <a:avLst>
              <a:gd name="adj" fmla="val 7102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5182" y="2411512"/>
            <a:ext cx="324715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Loyalty Programs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5182" y="2748260"/>
            <a:ext cx="3247150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repeat buyers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1475" y="3214390"/>
            <a:ext cx="3574564" cy="855861"/>
          </a:xfrm>
          <a:prstGeom prst="roundRect">
            <a:avLst>
              <a:gd name="adj" fmla="val 7102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82" y="3378101"/>
            <a:ext cx="324715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Discount Policy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5182" y="3714849"/>
            <a:ext cx="3247150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conversion &amp; margins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1475" y="4180979"/>
            <a:ext cx="3574564" cy="855861"/>
          </a:xfrm>
          <a:prstGeom prst="roundRect">
            <a:avLst>
              <a:gd name="adj" fmla="val 7102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182" y="4344690"/>
            <a:ext cx="324715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Product Positioning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5182" y="4681438"/>
            <a:ext cx="3247150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Highlight top-rated &amp; best-sellers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1475" y="5147568"/>
            <a:ext cx="3574564" cy="1047552"/>
          </a:xfrm>
          <a:prstGeom prst="roundRect">
            <a:avLst>
              <a:gd name="adj" fmla="val 5802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182" y="5311279"/>
            <a:ext cx="324715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Targeted Marketing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5182" y="5648027"/>
            <a:ext cx="3247150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high-revenue age groups &amp; express users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95400" y="2072481"/>
            <a:ext cx="7550656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Power BI dashboard built to visualize these metrics.</a:t>
            </a:r>
            <a:endParaRPr lang="en-US" sz="11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929" y="2388791"/>
            <a:ext cx="5556012" cy="29901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382</Words>
  <Application>Microsoft Office PowerPoint</Application>
  <PresentationFormat>Widescreen</PresentationFormat>
  <Paragraphs>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Host Grotesk Medium</vt:lpstr>
      <vt:lpstr>Roboto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KJ</dc:creator>
  <cp:lastModifiedBy>Khushbu Jain</cp:lastModifiedBy>
  <cp:revision>2</cp:revision>
  <dcterms:created xsi:type="dcterms:W3CDTF">2026-09-16T11:01:20Z</dcterms:created>
  <dcterms:modified xsi:type="dcterms:W3CDTF">2026-09-16T11:16:51Z</dcterms:modified>
</cp:coreProperties>
</file>